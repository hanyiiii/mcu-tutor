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D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6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DD4A7"/>
                </a:solidFill>
                <a:latin typeface="微软雅黑"/>
                <a:ea typeface="微软雅黑"/>
              </a:rPr>
              <a:t>CHIPMASTER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FFFFFF"/>
                </a:solidFill>
                <a:latin typeface="微软雅黑"/>
                <a:ea typeface="微软雅黑"/>
              </a:rPr>
              <a:t>芯师傅 ChipMaster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8FA3BF"/>
                </a:solidFill>
                <a:latin typeface="微软雅黑"/>
                <a:ea typeface="微软雅黑"/>
              </a:rPr>
              <a:t>单片机 AI 学习助手 —— 从点亮第一盏灯，到独立完成课程设计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977639"/>
            <a:ext cx="3291840" cy="45720"/>
          </a:xfrm>
          <a:prstGeom prst="rect">
            <a:avLst/>
          </a:prstGeom>
          <a:solidFill>
            <a:srgbClr val="2DD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8FA3BF"/>
                </a:solidFill>
                <a:latin typeface="微软雅黑"/>
                <a:ea typeface="微软雅黑"/>
              </a:rPr>
              <a:t>2026 年第二届重庆市 AI 大模型创新应用大赛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8FA3BF"/>
                </a:solidFill>
                <a:latin typeface="微软雅黑"/>
                <a:ea typeface="微软雅黑"/>
              </a:rPr>
              <a:t>AI 创意赛道 · 教育场景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8FA3BF"/>
                </a:solidFill>
                <a:latin typeface="微软雅黑"/>
                <a:ea typeface="微软雅黑"/>
              </a:rPr>
              <a:t>参赛学校：【学校名称】    团队：【团队名称】    2026 年 9 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8BDF8"/>
                </a:solidFill>
                <a:latin typeface="微软雅黑"/>
                <a:ea typeface="微软雅黑"/>
              </a:rPr>
              <a:t>在线体验：hanyiiii.github.io/mcu-tutor    代码开源：github.com/Hanyiiii/mcu-tutor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DD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10896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微软雅黑"/>
                <a:ea typeface="微软雅黑"/>
              </a:rPr>
              <a:t>内容提纲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3268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FA3BF"/>
                </a:solidFill>
                <a:latin typeface="微软雅黑"/>
                <a:ea typeface="微软雅黑"/>
              </a:rPr>
              <a:t>Contents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12080" cy="1234440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A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47672"/>
            <a:ext cx="1005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DD4A7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911096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痛点分析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350008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FA3BF"/>
                </a:solidFill>
                <a:latin typeface="微软雅黑"/>
                <a:ea typeface="微软雅黑"/>
              </a:rPr>
              <a:t>单片机学习为什么这么难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691640"/>
            <a:ext cx="5212080" cy="1234440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A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79" y="1947672"/>
            <a:ext cx="1005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DD4A7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799" y="1911096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解决方案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799" y="2350008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FA3BF"/>
                </a:solidFill>
                <a:latin typeface="微软雅黑"/>
                <a:ea typeface="微软雅黑"/>
              </a:rPr>
              <a:t>五大功能模块 + 技术架构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72968"/>
            <a:ext cx="5212080" cy="1234440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A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429000"/>
            <a:ext cx="1005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DD4A7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3392424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核心机制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3831336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FA3BF"/>
                </a:solidFill>
                <a:latin typeface="微软雅黑"/>
                <a:ea typeface="微软雅黑"/>
              </a:rPr>
              <a:t>大模型 + 领域知识库（轻量 RAG）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3172968"/>
            <a:ext cx="5212080" cy="1234440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A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79" y="3429000"/>
            <a:ext cx="1005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DD4A7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799" y="3392424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创新点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799" y="3831336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FA3BF"/>
                </a:solidFill>
                <a:latin typeface="微软雅黑"/>
                <a:ea typeface="微软雅黑"/>
              </a:rPr>
              <a:t>垂直场景、内容资产、低成本落地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654296"/>
            <a:ext cx="5212080" cy="1234440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A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910328"/>
            <a:ext cx="1005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DD4A7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4873752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商业价值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5312664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FA3BF"/>
                </a:solidFill>
                <a:latin typeface="微软雅黑"/>
                <a:ea typeface="微软雅黑"/>
              </a:rPr>
              <a:t>教育效益与商业化路径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59" y="4654296"/>
            <a:ext cx="5212080" cy="1234440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A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4910328"/>
            <a:ext cx="1005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DD4A7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799" y="4873752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实施过程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799" y="5312664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FA3BF"/>
                </a:solidFill>
                <a:latin typeface="微软雅黑"/>
                <a:ea typeface="微软雅黑"/>
              </a:rPr>
              <a:t>两周从立项到上线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5F7394"/>
                </a:solidFill>
                <a:latin typeface="微软雅黑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82296" cy="502920"/>
          </a:xfrm>
          <a:prstGeom prst="rect">
            <a:avLst/>
          </a:prstGeom>
          <a:solidFill>
            <a:srgbClr val="2DD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微软雅黑"/>
                <a:ea typeface="微软雅黑"/>
              </a:rPr>
              <a:t>单片机学习，为什么这么难？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3268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FA3BF"/>
                </a:solidFill>
                <a:latin typeface="微软雅黑"/>
                <a:ea typeface="微软雅黑"/>
              </a:rPr>
              <a:t>三大痛点直击课程学习核心环节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3108960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A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383280" cy="50292"/>
          </a:xfrm>
          <a:prstGeom prst="rect">
            <a:avLst/>
          </a:prstGeom>
          <a:solidFill>
            <a:srgbClr val="2DD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93392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❓  答疑难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292608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FA3BF"/>
                </a:solidFill>
                <a:latin typeface="微软雅黑"/>
                <a:ea typeface="微软雅黑"/>
              </a:rPr>
              <a:t>寄存器、中断、时序等概念零散；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8FA3BF"/>
                </a:solidFill>
                <a:latin typeface="微软雅黑"/>
                <a:ea typeface="微软雅黑"/>
              </a:rPr>
              <a:t>查资料半天找不到答案；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8FA3BF"/>
                </a:solidFill>
                <a:latin typeface="微软雅黑"/>
                <a:ea typeface="微软雅黑"/>
              </a:rPr>
              <a:t>一个编译报错卡一晚上。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828800"/>
            <a:ext cx="3383280" cy="3108960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A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828800"/>
            <a:ext cx="3383280" cy="50292"/>
          </a:xfrm>
          <a:prstGeom prst="rect">
            <a:avLst/>
          </a:prstGeom>
          <a:solidFill>
            <a:srgbClr val="2DD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993392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⌨️  代码难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514600"/>
            <a:ext cx="292608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FA3BF"/>
                </a:solidFill>
                <a:latin typeface="微软雅黑"/>
                <a:ea typeface="微软雅黑"/>
              </a:rPr>
              <a:t>网上例程不全、版本混乱；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8FA3BF"/>
                </a:solidFill>
                <a:latin typeface="微软雅黑"/>
                <a:ea typeface="微软雅黑"/>
              </a:rPr>
              <a:t>Keil 报 C202/C141 不知从何改起；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8FA3BF"/>
                </a:solidFill>
                <a:latin typeface="微软雅黑"/>
                <a:ea typeface="微软雅黑"/>
              </a:rPr>
              <a:t>代码不能直接用。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828800"/>
            <a:ext cx="3383280" cy="3108960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A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828800"/>
            <a:ext cx="3383280" cy="50292"/>
          </a:xfrm>
          <a:prstGeom prst="rect">
            <a:avLst/>
          </a:prstGeom>
          <a:solidFill>
            <a:srgbClr val="2DD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993392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🔌  仿真难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514600"/>
            <a:ext cx="292608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FA3BF"/>
                </a:solidFill>
                <a:latin typeface="微软雅黑"/>
                <a:ea typeface="微软雅黑"/>
              </a:rPr>
              <a:t>Proteus 元件选型、接线、hex 加载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8FA3BF"/>
                </a:solidFill>
                <a:latin typeface="微软雅黑"/>
                <a:ea typeface="微软雅黑"/>
              </a:rPr>
              <a:t>每个环节都是坑；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8FA3BF"/>
                </a:solidFill>
                <a:latin typeface="微软雅黑"/>
                <a:ea typeface="微软雅黑"/>
              </a:rPr>
              <a:t>电路搭好却不运行。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8640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DD4A7"/>
                </a:solidFill>
                <a:latin typeface="微软雅黑"/>
                <a:ea typeface="微软雅黑"/>
              </a:rPr>
              <a:t>→ 通用大模型缺教学语料、搜索引擎碎片化、视频课程无反馈，芯师傅给出垂直场景答案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5F7394"/>
                </a:solidFill>
                <a:latin typeface="微软雅黑"/>
                <a:ea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82296" cy="502920"/>
          </a:xfrm>
          <a:prstGeom prst="rect">
            <a:avLst/>
          </a:prstGeom>
          <a:solidFill>
            <a:srgbClr val="2DD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微软雅黑"/>
                <a:ea typeface="微软雅黑"/>
              </a:rPr>
              <a:t>解决方案：五大功能模块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3268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FA3BF"/>
                </a:solidFill>
                <a:latin typeface="微软雅黑"/>
                <a:ea typeface="微软雅黑"/>
              </a:rPr>
              <a:t>覆盖「提问 — 生成 — 搭建 — 学习」完整链路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1920240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A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3383280" cy="50292"/>
          </a:xfrm>
          <a:prstGeom prst="rect">
            <a:avLst/>
          </a:prstGeom>
          <a:solidFill>
            <a:srgbClr val="2DD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01952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💬  AI 智能答疑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23160"/>
            <a:ext cx="29260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FA3BF"/>
                </a:solidFill>
                <a:latin typeface="微软雅黑"/>
                <a:ea typeface="微软雅黑"/>
              </a:rPr>
              <a:t>大模型流式对话，命中知识库自动注入资料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737360"/>
            <a:ext cx="3383280" cy="1920240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A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737360"/>
            <a:ext cx="3383280" cy="50292"/>
          </a:xfrm>
          <a:prstGeom prst="rect">
            <a:avLst/>
          </a:prstGeom>
          <a:solidFill>
            <a:srgbClr val="2DD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901952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⚡  代码生成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423160"/>
            <a:ext cx="29260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FA3BF"/>
                </a:solidFill>
                <a:latin typeface="微软雅黑"/>
                <a:ea typeface="微软雅黑"/>
              </a:rPr>
              <a:t>13 个实测模板 + AI 定制 + 编译检查清单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737360"/>
            <a:ext cx="3383280" cy="1920240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A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737360"/>
            <a:ext cx="3383280" cy="50292"/>
          </a:xfrm>
          <a:prstGeom prst="rect">
            <a:avLst/>
          </a:prstGeom>
          <a:solidFill>
            <a:srgbClr val="2DD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901952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🔧  仿真向导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423160"/>
            <a:ext cx="29260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FA3BF"/>
                </a:solidFill>
                <a:latin typeface="微软雅黑"/>
                <a:ea typeface="微软雅黑"/>
              </a:rPr>
              <a:t>8 大电路分步搭建：清单 / 步骤 / 避坑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77639"/>
            <a:ext cx="3383280" cy="1920240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A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977639"/>
            <a:ext cx="3383280" cy="50292"/>
          </a:xfrm>
          <a:prstGeom prst="rect">
            <a:avLst/>
          </a:prstGeom>
          <a:solidFill>
            <a:srgbClr val="2DD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42231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📚  知识库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663439"/>
            <a:ext cx="29260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FA3BF"/>
                </a:solidFill>
                <a:latin typeface="微软雅黑"/>
                <a:ea typeface="微软雅黑"/>
              </a:rPr>
              <a:t>36 条核心知识点，分类浏览 + 搜索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3977639"/>
            <a:ext cx="3383280" cy="1920240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A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26280" y="3977639"/>
            <a:ext cx="3383280" cy="50292"/>
          </a:xfrm>
          <a:prstGeom prst="rect">
            <a:avLst/>
          </a:prstGeom>
          <a:solidFill>
            <a:srgbClr val="2DD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4142231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🗺️  学习路径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663439"/>
            <a:ext cx="29260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FA3BF"/>
                </a:solidFill>
                <a:latin typeface="微软雅黑"/>
                <a:ea typeface="微软雅黑"/>
              </a:rPr>
              <a:t>四阶段进阶路线，进度本地持久化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5F7394"/>
                </a:solidFill>
                <a:latin typeface="微软雅黑"/>
                <a:ea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82296" cy="502920"/>
          </a:xfrm>
          <a:prstGeom prst="rect">
            <a:avLst/>
          </a:prstGeom>
          <a:solidFill>
            <a:srgbClr val="2DD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微软雅黑"/>
                <a:ea typeface="微软雅黑"/>
              </a:rPr>
              <a:t>功能演示：AI 智能答疑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3268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FA3BF"/>
                </a:solidFill>
                <a:latin typeface="微软雅黑"/>
                <a:ea typeface="微软雅黑"/>
              </a:rPr>
              <a:t>提问 → 知识库检索 → 资料注入 → 大模型流式作答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6949440" cy="4709160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A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83080"/>
            <a:ext cx="658368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8368" y="1755648"/>
            <a:ext cx="6638544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2011680"/>
            <a:ext cx="393192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8FA3BF"/>
                </a:solidFill>
                <a:latin typeface="微软雅黑"/>
                <a:ea typeface="微软雅黑"/>
              </a:rPr>
              <a:t>• 流式输出，提问秒回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8FA3BF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8FA3BF"/>
                </a:solidFill>
                <a:latin typeface="微软雅黑"/>
                <a:ea typeface="微软雅黑"/>
              </a:rPr>
              <a:t>• 命中知识库时自动注入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8FA3BF"/>
                </a:solidFill>
                <a:latin typeface="微软雅黑"/>
                <a:ea typeface="微软雅黑"/>
              </a:rPr>
              <a:t>  3 条相关资料，回答更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8FA3BF"/>
                </a:solidFill>
                <a:latin typeface="微软雅黑"/>
                <a:ea typeface="微软雅黑"/>
              </a:rPr>
              <a:t>  贴合教学场景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8FA3BF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8FA3BF"/>
                </a:solidFill>
                <a:latin typeface="微软雅黑"/>
                <a:ea typeface="微软雅黑"/>
              </a:rPr>
              <a:t>• 支持代码块渲染与复制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8FA3BF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8FA3BF"/>
                </a:solidFill>
                <a:latin typeface="微软雅黑"/>
                <a:ea typeface="微软雅黑"/>
              </a:rPr>
              <a:t>• 内置快捷提问引导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8FA3BF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8FA3BF"/>
                </a:solidFill>
                <a:latin typeface="微软雅黑"/>
                <a:ea typeface="微软雅黑"/>
              </a:rPr>
              <a:t>• 未配置接口时友好降级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8FA3BF"/>
                </a:solidFill>
                <a:latin typeface="微软雅黑"/>
                <a:ea typeface="微软雅黑"/>
              </a:rPr>
              <a:t>  提示，不崩溃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5F7394"/>
                </a:solidFill>
                <a:latin typeface="微软雅黑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82296" cy="502920"/>
          </a:xfrm>
          <a:prstGeom prst="rect">
            <a:avLst/>
          </a:prstGeom>
          <a:solidFill>
            <a:srgbClr val="2DD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微软雅黑"/>
                <a:ea typeface="微软雅黑"/>
              </a:rPr>
              <a:t>功能演示：代码生成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3268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FA3BF"/>
                </a:solidFill>
                <a:latin typeface="微软雅黑"/>
                <a:ea typeface="微软雅黑"/>
              </a:rPr>
              <a:t>经典模板 + AI 定制，生成即用，配套编译检查清单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7863840" cy="4709160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A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code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83080"/>
            <a:ext cx="7498079" cy="468629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8368" y="1755648"/>
            <a:ext cx="7552943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2011680"/>
            <a:ext cx="31089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8FA3BF"/>
                </a:solidFill>
                <a:latin typeface="微软雅黑"/>
                <a:ea typeface="微软雅黑"/>
              </a:rPr>
              <a:t>• 13 个模板全部经</a:t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8FA3BF"/>
                </a:solidFill>
                <a:latin typeface="微软雅黑"/>
                <a:ea typeface="微软雅黑"/>
              </a:rPr>
              <a:t>  Keil 编译验证</a:t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8FA3BF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8FA3BF"/>
                </a:solidFill>
                <a:latin typeface="微软雅黑"/>
                <a:ea typeface="微软雅黑"/>
              </a:rPr>
              <a:t>• 覆盖流水灯 → 电子时钟</a:t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8FA3BF"/>
                </a:solidFill>
                <a:latin typeface="微软雅黑"/>
                <a:ea typeface="微软雅黑"/>
              </a:rPr>
              <a:t>  及 STM32 HAL 点灯</a:t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8FA3BF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8FA3BF"/>
                </a:solidFill>
                <a:latin typeface="微软雅黑"/>
                <a:ea typeface="微软雅黑"/>
              </a:rPr>
              <a:t>• AI 按外设组合生成</a:t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8FA3BF"/>
                </a:solidFill>
                <a:latin typeface="微软雅黑"/>
                <a:ea typeface="微软雅黑"/>
              </a:rPr>
              <a:t>  完整可编译代码</a:t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8FA3BF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8FA3BF"/>
                </a:solidFill>
                <a:latin typeface="微软雅黑"/>
                <a:ea typeface="微软雅黑"/>
              </a:rPr>
              <a:t>• 一键复制 / 下载 .c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5F7394"/>
                </a:solidFill>
                <a:latin typeface="微软雅黑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82296" cy="502920"/>
          </a:xfrm>
          <a:prstGeom prst="rect">
            <a:avLst/>
          </a:prstGeom>
          <a:solidFill>
            <a:srgbClr val="2DD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微软雅黑"/>
                <a:ea typeface="微软雅黑"/>
              </a:rPr>
              <a:t>功能演示：Proteus 仿真向导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3268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FA3BF"/>
                </a:solidFill>
                <a:latin typeface="微软雅黑"/>
                <a:ea typeface="微软雅黑"/>
              </a:rPr>
              <a:t>照着做就能跑：元件清单 → 接线步骤 → 避坑提示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7863840" cy="4709160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A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_simgu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83080"/>
            <a:ext cx="7498079" cy="468629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8368" y="1755648"/>
            <a:ext cx="7552943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2011680"/>
            <a:ext cx="31089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8FA3BF"/>
                </a:solidFill>
                <a:latin typeface="微软雅黑"/>
                <a:ea typeface="微软雅黑"/>
              </a:rPr>
              <a:t>• 8 大常用电路：最小系统</a:t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8FA3BF"/>
                </a:solidFill>
                <a:latin typeface="微软雅黑"/>
                <a:ea typeface="微软雅黑"/>
              </a:rPr>
              <a:t>  LED / 按键 / 数码管 /</a:t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8FA3BF"/>
                </a:solidFill>
                <a:latin typeface="微软雅黑"/>
                <a:ea typeface="微软雅黑"/>
              </a:rPr>
              <a:t>  串口 / 蜂鸣器 / LCD /</a:t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8FA3BF"/>
                </a:solidFill>
                <a:latin typeface="微软雅黑"/>
                <a:ea typeface="微软雅黑"/>
              </a:rPr>
              <a:t>  DS18B20</a:t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8FA3BF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8FA3BF"/>
                </a:solidFill>
                <a:latin typeface="微软雅黑"/>
                <a:ea typeface="微软雅黑"/>
              </a:rPr>
              <a:t>• 每步给出元件库名与</a:t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8FA3BF"/>
                </a:solidFill>
                <a:latin typeface="微软雅黑"/>
                <a:ea typeface="微软雅黑"/>
              </a:rPr>
              <a:t>  接线细节</a:t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8FA3BF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8FA3BF"/>
                </a:solidFill>
                <a:latin typeface="微软雅黑"/>
                <a:ea typeface="微软雅黑"/>
              </a:rPr>
              <a:t>• 与代码模板联动，</a:t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8FA3BF"/>
                </a:solidFill>
                <a:latin typeface="微软雅黑"/>
                <a:ea typeface="微软雅黑"/>
              </a:rPr>
              <a:t>  一键跳转配套程序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5F7394"/>
                </a:solidFill>
                <a:latin typeface="微软雅黑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82296" cy="502920"/>
          </a:xfrm>
          <a:prstGeom prst="rect">
            <a:avLst/>
          </a:prstGeom>
          <a:solidFill>
            <a:srgbClr val="2DD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微软雅黑"/>
                <a:ea typeface="微软雅黑"/>
              </a:rPr>
              <a:t>知识库与学习路径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3268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FA3BF"/>
                </a:solidFill>
                <a:latin typeface="微软雅黑"/>
                <a:ea typeface="微软雅黑"/>
              </a:rPr>
              <a:t>结构化内容资产 + 四阶段进阶导航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5486400" cy="4709160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A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_k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5212080" cy="32575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12648" y="1755648"/>
            <a:ext cx="5266944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3640" y="1600200"/>
            <a:ext cx="5486400" cy="4709160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A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6_pa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83080"/>
            <a:ext cx="5212080" cy="32575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373368" y="1755648"/>
            <a:ext cx="5266944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5F7394"/>
                </a:solidFill>
                <a:latin typeface="微软雅黑"/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82296" cy="502920"/>
          </a:xfrm>
          <a:prstGeom prst="rect">
            <a:avLst/>
          </a:prstGeom>
          <a:solidFill>
            <a:srgbClr val="2DD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微软雅黑"/>
                <a:ea typeface="微软雅黑"/>
              </a:rPr>
              <a:t>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3268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FA3BF"/>
                </a:solidFill>
                <a:latin typeface="微软雅黑"/>
                <a:ea typeface="微软雅黑"/>
              </a:rPr>
              <a:t>前后端分离 · 密钥隔离 · 全免费基础设施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1828800"/>
            <a:ext cx="8138160" cy="1143000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A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1828800"/>
            <a:ext cx="82296" cy="11430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31720" y="2029968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展示层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1956816"/>
            <a:ext cx="5943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FA3BF"/>
                </a:solidFill>
                <a:latin typeface="微软雅黑"/>
                <a:ea typeface="微软雅黑"/>
              </a:rPr>
              <a:t>Vue 3 + Vite 单页应用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8FA3BF"/>
                </a:solidFill>
                <a:latin typeface="微软雅黑"/>
                <a:ea typeface="微软雅黑"/>
              </a:rPr>
              <a:t>GitHub Pages 静态托管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2907792"/>
            <a:ext cx="731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5F7394"/>
                </a:solidFill>
                <a:latin typeface="微软雅黑"/>
                <a:ea typeface="微软雅黑"/>
              </a:rPr>
              <a:t>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3246120"/>
            <a:ext cx="8138160" cy="1143000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A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11680" y="3246120"/>
            <a:ext cx="82296" cy="1143000"/>
          </a:xfrm>
          <a:prstGeom prst="rect">
            <a:avLst/>
          </a:prstGeom>
          <a:solidFill>
            <a:srgbClr val="2DD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20" y="3447288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服务层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3374136"/>
            <a:ext cx="5943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FA3BF"/>
                </a:solidFill>
                <a:latin typeface="微软雅黑"/>
                <a:ea typeface="微软雅黑"/>
              </a:rPr>
              <a:t>Supabase Edge Function（Deno）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8FA3BF"/>
                </a:solidFill>
                <a:latin typeface="微软雅黑"/>
                <a:ea typeface="微软雅黑"/>
              </a:rPr>
              <a:t>代理大模型 API · 流式转发 · 密钥仅存服务端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4325112"/>
            <a:ext cx="731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5F7394"/>
                </a:solidFill>
                <a:latin typeface="微软雅黑"/>
                <a:ea typeface="微软雅黑"/>
              </a:rPr>
              <a:t>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11680" y="4663440"/>
            <a:ext cx="8138160" cy="1143000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A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11680" y="4663440"/>
            <a:ext cx="82296" cy="1143000"/>
          </a:xfrm>
          <a:prstGeom prst="rect">
            <a:avLst/>
          </a:prstGeom>
          <a:solidFill>
            <a:srgbClr val="F9A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31720" y="4864608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模型层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4791456"/>
            <a:ext cx="5943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8FA3BF"/>
                </a:solidFill>
                <a:latin typeface="微软雅黑"/>
                <a:ea typeface="微软雅黑"/>
              </a:rPr>
              <a:t>DeepSeek（OpenAI 兼容协议）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8FA3BF"/>
                </a:solidFill>
                <a:latin typeface="微软雅黑"/>
                <a:ea typeface="微软雅黑"/>
              </a:rPr>
              <a:t>可无缝切换豆包 / 智谱 / 通义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98932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DD4A7"/>
                </a:solidFill>
                <a:latin typeface="微软雅黑"/>
                <a:ea typeface="微软雅黑"/>
              </a:rPr>
              <a:t>开发工具链与托管全部免费，运行成本仅为按量计费的大模型 API（演示阶段预估 10—20 元）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5F7394"/>
                </a:solidFill>
                <a:latin typeface="微软雅黑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82296" cy="502920"/>
          </a:xfrm>
          <a:prstGeom prst="rect">
            <a:avLst/>
          </a:prstGeom>
          <a:solidFill>
            <a:srgbClr val="2DD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微软雅黑"/>
                <a:ea typeface="微软雅黑"/>
              </a:rPr>
              <a:t>核心机制：本地轻量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3268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FA3BF"/>
                </a:solidFill>
                <a:latin typeface="微软雅黑"/>
                <a:ea typeface="微软雅黑"/>
              </a:rPr>
              <a:t>大模型泛化能力 + 领域知识库专业性的结合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2560320" cy="2834640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A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1832" y="2286000"/>
            <a:ext cx="777240" cy="777240"/>
          </a:xfrm>
          <a:prstGeom prst="roundRect">
            <a:avLst/>
          </a:prstGeom>
          <a:solidFill>
            <a:srgbClr val="2DD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395728"/>
            <a:ext cx="777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0B1220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用户提问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2148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FA3BF"/>
                </a:solidFill>
                <a:latin typeface="微软雅黑"/>
                <a:ea typeface="微软雅黑"/>
              </a:rPr>
              <a:t>「Keil 报错 C202 是什么意思？」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7832" y="2926080"/>
            <a:ext cx="411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2DD4A7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920240"/>
            <a:ext cx="2560320" cy="2834640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A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22192" y="2286000"/>
            <a:ext cx="777240" cy="777240"/>
          </a:xfrm>
          <a:prstGeom prst="roundRect">
            <a:avLst/>
          </a:prstGeom>
          <a:solidFill>
            <a:srgbClr val="2DD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22192" y="2395728"/>
            <a:ext cx="777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0B1220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324612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本地检索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657600"/>
            <a:ext cx="2148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FA3BF"/>
                </a:solidFill>
                <a:latin typeface="微软雅黑"/>
                <a:ea typeface="微软雅黑"/>
              </a:rPr>
              <a:t>标签 + 关键词打分，毫秒级选出最相关 3 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8192" y="2926080"/>
            <a:ext cx="411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2DD4A7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1920240"/>
            <a:ext cx="2560320" cy="2834640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A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02552" y="2286000"/>
            <a:ext cx="777240" cy="777240"/>
          </a:xfrm>
          <a:prstGeom prst="roundRect">
            <a:avLst/>
          </a:prstGeom>
          <a:solidFill>
            <a:srgbClr val="2DD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2395728"/>
            <a:ext cx="777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0B1220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24612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注入上下文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657600"/>
            <a:ext cx="2148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FA3BF"/>
                </a:solidFill>
                <a:latin typeface="微软雅黑"/>
                <a:ea typeface="微软雅黑"/>
              </a:rPr>
              <a:t>相关资料随请求发给大模型作为回答依据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8552" y="2926080"/>
            <a:ext cx="411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2DD4A7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1920240"/>
            <a:ext cx="2560320" cy="2834640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A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582912" y="2286000"/>
            <a:ext cx="777240" cy="777240"/>
          </a:xfrm>
          <a:prstGeom prst="roundRect">
            <a:avLst/>
          </a:prstGeom>
          <a:solidFill>
            <a:srgbClr val="2DD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82912" y="2395728"/>
            <a:ext cx="777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0B1220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324612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流式作答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3657600"/>
            <a:ext cx="2148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8FA3BF"/>
                </a:solidFill>
                <a:latin typeface="微软雅黑"/>
                <a:ea typeface="微软雅黑"/>
              </a:rPr>
              <a:t>答案贴合教学场景，代码可编译、来源可追溯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257800"/>
            <a:ext cx="10835640" cy="868680"/>
          </a:xfrm>
          <a:prstGeom prst="roundRect">
            <a:avLst/>
          </a:prstGeom>
          <a:solidFill>
            <a:srgbClr val="16233C"/>
          </a:solidFill>
          <a:ln w="12700">
            <a:solidFill>
              <a:srgbClr val="2A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413248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8EEF8"/>
                </a:solidFill>
                <a:latin typeface="微软雅黑"/>
                <a:ea typeface="微软雅黑"/>
              </a:rPr>
              <a:t>相比向量化 RAG：零 embedding 成本 · 检索在浏览器本地完成 · 知识内容全部经 Keil 编译与 Proteus 仿真实测，从源头降低幻觉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5F7394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82296" cy="502920"/>
          </a:xfrm>
          <a:prstGeom prst="rect">
            <a:avLst/>
          </a:prstGeom>
          <a:solidFill>
            <a:srgbClr val="2DD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微软雅黑"/>
                <a:ea typeface="微软雅黑"/>
              </a:rPr>
              <a:t>创新点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3268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FA3BF"/>
                </a:solidFill>
                <a:latin typeface="微软雅黑"/>
                <a:ea typeface="微软雅黑"/>
              </a:rPr>
              <a:t>Innovation Highlights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212080" cy="1965960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A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5212080" cy="502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47672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🎯  垂直场景切入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FA3BF"/>
                </a:solidFill>
                <a:latin typeface="微软雅黑"/>
                <a:ea typeface="微软雅黑"/>
              </a:rPr>
              <a:t>不做通用问答，聚焦单片机教学最吃力的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8FA3BF"/>
                </a:solidFill>
                <a:latin typeface="微软雅黑"/>
                <a:ea typeface="微软雅黑"/>
              </a:rPr>
              <a:t>「编程 + 仿真」环节，问题与答案都来自真实课堂。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783080"/>
            <a:ext cx="5212080" cy="1965960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A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59" y="1783080"/>
            <a:ext cx="5212080" cy="502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1947672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📚  领域内容资产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46888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FA3BF"/>
                </a:solidFill>
                <a:latin typeface="微软雅黑"/>
                <a:ea typeface="微软雅黑"/>
              </a:rPr>
              <a:t>36 条知识点 + 13 个模板 + 8 个向导，全部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8FA3BF"/>
                </a:solidFill>
                <a:latin typeface="微软雅黑"/>
                <a:ea typeface="微软雅黑"/>
              </a:rPr>
              <a:t>经编译与仿真验证，构成可复用的内容壁垒。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69080"/>
            <a:ext cx="5212080" cy="1965960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A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069080"/>
            <a:ext cx="5212080" cy="502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33672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🧩  轻量 RAG 机制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75488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FA3BF"/>
                </a:solidFill>
                <a:latin typeface="微软雅黑"/>
                <a:ea typeface="微软雅黑"/>
              </a:rPr>
              <a:t>本地检索 + 上下文注入，不依赖向量库，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8FA3BF"/>
                </a:solidFill>
                <a:latin typeface="微软雅黑"/>
                <a:ea typeface="微软雅黑"/>
              </a:rPr>
              <a:t>零成本实现答案可控、来源可追溯。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4069080"/>
            <a:ext cx="5212080" cy="1965960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A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59" y="4069080"/>
            <a:ext cx="5212080" cy="502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59" y="4233672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💸  零成本可复制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475488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FA3BF"/>
                </a:solidFill>
                <a:latin typeface="微软雅黑"/>
                <a:ea typeface="微软雅黑"/>
              </a:rPr>
              <a:t>GitHub Pages + Supabase 免费额度 + 按量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8FA3BF"/>
                </a:solidFill>
                <a:latin typeface="微软雅黑"/>
                <a:ea typeface="微软雅黑"/>
              </a:rPr>
              <a:t>计费 API，两周上线，学生团队即可复制。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5F7394"/>
                </a:solidFill>
                <a:latin typeface="微软雅黑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82296" cy="502920"/>
          </a:xfrm>
          <a:prstGeom prst="rect">
            <a:avLst/>
          </a:prstGeom>
          <a:solidFill>
            <a:srgbClr val="2DD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9184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微软雅黑"/>
                <a:ea typeface="微软雅黑"/>
              </a:rPr>
              <a:t>预期效益与商业价值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32688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FA3BF"/>
                </a:solidFill>
                <a:latin typeface="微软雅黑"/>
                <a:ea typeface="微软雅黑"/>
              </a:rPr>
              <a:t>从比赛作品走向真实课堂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2377440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A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383280" cy="50292"/>
          </a:xfrm>
          <a:prstGeom prst="rect">
            <a:avLst/>
          </a:prstGeom>
          <a:solidFill>
            <a:srgbClr val="2DD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93392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🏫  高校实验教学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29260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FA3BF"/>
                </a:solidFill>
                <a:latin typeface="微软雅黑"/>
                <a:ea typeface="微软雅黑"/>
              </a:rPr>
              <a:t>单片机课程教学辅助平台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8FA3BF"/>
                </a:solidFill>
                <a:latin typeface="微软雅黑"/>
                <a:ea typeface="微软雅黑"/>
              </a:rPr>
              <a:t>题库 + 学情分析 + AI 批改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828800"/>
            <a:ext cx="3383280" cy="2377440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A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828800"/>
            <a:ext cx="3383280" cy="50292"/>
          </a:xfrm>
          <a:prstGeom prst="rect">
            <a:avLst/>
          </a:prstGeom>
          <a:solidFill>
            <a:srgbClr val="2DD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993392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🏬  教培与硬件厂商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514600"/>
            <a:ext cx="29260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FA3BF"/>
                </a:solidFill>
                <a:latin typeface="微软雅黑"/>
                <a:ea typeface="微软雅黑"/>
              </a:rPr>
              <a:t>课程增值模块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8FA3BF"/>
                </a:solidFill>
                <a:latin typeface="微软雅黑"/>
                <a:ea typeface="微软雅黑"/>
              </a:rPr>
              <a:t>开发板 / 课程配套学习工具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828800"/>
            <a:ext cx="3383280" cy="2377440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A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828800"/>
            <a:ext cx="3383280" cy="50292"/>
          </a:xfrm>
          <a:prstGeom prst="rect">
            <a:avLst/>
          </a:prstGeom>
          <a:solidFill>
            <a:srgbClr val="2DD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993392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👤  个人学习者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514600"/>
            <a:ext cx="29260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FA3BF"/>
                </a:solidFill>
                <a:latin typeface="微软雅黑"/>
                <a:ea typeface="微软雅黑"/>
              </a:rPr>
              <a:t>免费基础功能 + 增值订阅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8FA3BF"/>
                </a:solidFill>
                <a:latin typeface="微软雅黑"/>
                <a:ea typeface="微软雅黑"/>
              </a:rPr>
              <a:t>进阶题库 / 项目实战 / AI 批改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8FA3BF"/>
                </a:solidFill>
                <a:latin typeface="微软雅黑"/>
                <a:ea typeface="微软雅黑"/>
              </a:rPr>
              <a:t>教育价值：每个学生拥有「随问随答的 AI 助教」，显著降低单片机入门门槛，示范 AI 与工科实践教学的融合范式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8FA3BF"/>
                </a:solidFill>
                <a:latin typeface="微软雅黑"/>
                <a:ea typeface="微软雅黑"/>
              </a:rPr>
              <a:t>社会价值：全部基于免费与开源基础设施，验证低成本 AI 教育应用的可复制性，助力教育普惠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5F7394"/>
                </a:solidFill>
                <a:latin typeface="微软雅黑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D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智育人才 · 创领未来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8FA3BF"/>
                </a:solidFill>
                <a:latin typeface="微软雅黑"/>
                <a:ea typeface="微软雅黑"/>
              </a:rPr>
              <a:t>芯师傅 ChipMaster —— 让每个单片机学习者都有自己的 AI 私教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206240"/>
            <a:ext cx="3291840" cy="45720"/>
          </a:xfrm>
          <a:prstGeom prst="rect">
            <a:avLst/>
          </a:prstGeom>
          <a:solidFill>
            <a:srgbClr val="2DD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6634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8FA3BF"/>
                </a:solidFill>
                <a:latin typeface="微软雅黑"/>
                <a:ea typeface="微软雅黑"/>
              </a:rPr>
              <a:t>在线体验：hanyiiii.github.io/mcu-tutor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8FA3BF"/>
                </a:solidFill>
                <a:latin typeface="微软雅黑"/>
                <a:ea typeface="微软雅黑"/>
              </a:rPr>
              <a:t>代码开源：github.com/Hanyiiii/mcu-tutor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8FA3BF"/>
                </a:solidFill>
                <a:latin typeface="微软雅黑"/>
                <a:ea typeface="微软雅黑"/>
              </a:rPr>
              <a:t>感谢各位评委老师！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